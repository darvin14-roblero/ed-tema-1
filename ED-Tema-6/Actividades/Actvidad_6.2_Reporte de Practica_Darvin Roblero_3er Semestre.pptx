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1" r:id="rId2"/>
    <p:sldId id="2562" r:id="rId3"/>
    <p:sldId id="2563" r:id="rId4"/>
    <p:sldId id="2583" r:id="rId5"/>
    <p:sldId id="2565" r:id="rId6"/>
    <p:sldId id="2590" r:id="rId7"/>
    <p:sldId id="2576" r:id="rId8"/>
    <p:sldId id="2589"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gramación orientada a objetos: Principios y aplicaciones" id="{2690BB67-E966-44FA-B574-1E4288782F99}">
          <p14:sldIdLst>
            <p14:sldId id="2561"/>
            <p14:sldId id="2562"/>
          </p14:sldIdLst>
        </p14:section>
        <p14:section name="Fundamentos de la programación orientada a objetos" id="{CFB46A74-3852-4840-9BAE-45AC099C1EA0}">
          <p14:sldIdLst>
            <p14:sldId id="2563"/>
            <p14:sldId id="2583"/>
            <p14:sldId id="2565"/>
            <p14:sldId id="2590"/>
          </p14:sldIdLst>
        </p14:section>
        <p14:section name="Conclusión" id="{9670A1F2-1E7E-413C-9EDF-4A41C2726A6B}">
          <p14:sldIdLst>
            <p14:sldId id="2576"/>
            <p14:sldId id="25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9DC7C-0AE2-4E55-B7E4-3BD8DA93C5E9}" type="datetimeFigureOut">
              <a:rPr lang="es-MX" smtClean="0"/>
              <a:t>17/12/2025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CCBF03-CF91-4B92-84FC-488834E8FEF5}" type="slidenum">
              <a:rPr lang="es-MX" smtClean="0"/>
              <a:t>‹Nº›</a:t>
            </a:fld>
            <a:endParaRPr lang="es-MX"/>
          </a:p>
        </p:txBody>
      </p:sp>
    </p:spTree>
    <p:extLst>
      <p:ext uri="{BB962C8B-B14F-4D97-AF65-F5344CB8AC3E}">
        <p14:creationId xmlns:p14="http://schemas.microsoft.com/office/powerpoint/2010/main" val="207998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El contenido generado por inteligencia artificial puede ser incorrecto.
---
La programación orientada a objetos (POO) es un paradigma que utiliza 'objetos' para representar datos y métodos. A lo largo de esta presentación, exploraremos sus fundamentos, principios de diseño, lenguajes comunes y sus aplicaciones en la industria.
</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1</a:t>
            </a:fld>
            <a:endParaRPr lang="es-MX"/>
          </a:p>
        </p:txBody>
      </p:sp>
    </p:spTree>
    <p:extLst>
      <p:ext uri="{BB962C8B-B14F-4D97-AF65-F5344CB8AC3E}">
        <p14:creationId xmlns:p14="http://schemas.microsoft.com/office/powerpoint/2010/main" val="2512212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Comenzaremos con los fundamentos de la programación orientada a objetos, incluyendo conceptos clave como objetos y clases, así como los principios básicos que la rigen. Luego, analizaremos los principios de diseño, características de lenguajes populares, aplicaciones en diversos sectores y finalmente, los desafíos y tendencias actuales en POO.</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2</a:t>
            </a:fld>
            <a:endParaRPr lang="es-MX"/>
          </a:p>
        </p:txBody>
      </p:sp>
    </p:spTree>
    <p:extLst>
      <p:ext uri="{BB962C8B-B14F-4D97-AF65-F5344CB8AC3E}">
        <p14:creationId xmlns:p14="http://schemas.microsoft.com/office/powerpoint/2010/main" val="932094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La programación orientada a objetos se basa en la creación de objetos que contienen atributos y métodos. Este enfoque facilita la modularidad y reutilización del código, lo que mejora la organización y mantenimiento del software.</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3</a:t>
            </a:fld>
            <a:endParaRPr lang="es-MX"/>
          </a:p>
        </p:txBody>
      </p:sp>
    </p:spTree>
    <p:extLst>
      <p:ext uri="{BB962C8B-B14F-4D97-AF65-F5344CB8AC3E}">
        <p14:creationId xmlns:p14="http://schemas.microsoft.com/office/powerpoint/2010/main" val="84618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E14B-3946-B1CF-4E42-817BDAF64D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614AB2-9933-F30F-0486-0F45EFFFF164}"/>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29397B64-3D43-87F7-D63C-286D280485D7}"/>
              </a:ext>
            </a:extLst>
          </p:cNvPr>
          <p:cNvSpPr>
            <a:spLocks noGrp="1"/>
          </p:cNvSpPr>
          <p:nvPr>
            <p:ph type="body" idx="1"/>
          </p:nvPr>
        </p:nvSpPr>
        <p:spPr/>
        <p:txBody>
          <a:bodyPr/>
          <a:lstStyle/>
          <a:p>
            <a:r>
              <a:rPr lang="es-MX"/>
              <a:t>La programación orientada a objetos se basa en la creación de objetos que contienen atributos y métodos. Este enfoque facilita la modularidad y reutilización del código, lo que mejora la organización y mantenimiento del software.</a:t>
            </a:r>
          </a:p>
        </p:txBody>
      </p:sp>
      <p:sp>
        <p:nvSpPr>
          <p:cNvPr id="4" name="Marcador de número de diapositiva 3">
            <a:extLst>
              <a:ext uri="{FF2B5EF4-FFF2-40B4-BE49-F238E27FC236}">
                <a16:creationId xmlns:a16="http://schemas.microsoft.com/office/drawing/2014/main" id="{45E4484C-4EDC-E741-6C36-7715047D881C}"/>
              </a:ext>
            </a:extLst>
          </p:cNvPr>
          <p:cNvSpPr>
            <a:spLocks noGrp="1"/>
          </p:cNvSpPr>
          <p:nvPr>
            <p:ph type="sldNum" sz="quarter" idx="5"/>
          </p:nvPr>
        </p:nvSpPr>
        <p:spPr/>
        <p:txBody>
          <a:bodyPr/>
          <a:lstStyle/>
          <a:p>
            <a:fld id="{BACE588D-C919-4E98-B890-E17B0AC4619B}" type="slidenum">
              <a:rPr lang="es-MX" smtClean="0"/>
              <a:t>4</a:t>
            </a:fld>
            <a:endParaRPr lang="es-MX"/>
          </a:p>
        </p:txBody>
      </p:sp>
    </p:spTree>
    <p:extLst>
      <p:ext uri="{BB962C8B-B14F-4D97-AF65-F5344CB8AC3E}">
        <p14:creationId xmlns:p14="http://schemas.microsoft.com/office/powerpoint/2010/main" val="2374880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La encapsulación oculta los detalles internos del objeto, la herencia permite que una clase derive atributos y métodos de otra, y el polimorfismo permite que un objeto se comporte de diferentes maneras según su contexto. Estos principios son fundamentales para la POO.</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5</a:t>
            </a:fld>
            <a:endParaRPr lang="es-MX"/>
          </a:p>
        </p:txBody>
      </p:sp>
    </p:spTree>
    <p:extLst>
      <p:ext uri="{BB962C8B-B14F-4D97-AF65-F5344CB8AC3E}">
        <p14:creationId xmlns:p14="http://schemas.microsoft.com/office/powerpoint/2010/main" val="1734456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6CD3-72B6-DCFB-335F-0086F13F67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DA6875-2AC8-0887-0139-50455665B28E}"/>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08EA2F8F-0F21-4C3B-999B-7D819CB997BF}"/>
              </a:ext>
            </a:extLst>
          </p:cNvPr>
          <p:cNvSpPr>
            <a:spLocks noGrp="1"/>
          </p:cNvSpPr>
          <p:nvPr>
            <p:ph type="body" idx="1"/>
          </p:nvPr>
        </p:nvSpPr>
        <p:spPr/>
        <p:txBody>
          <a:bodyPr/>
          <a:lstStyle/>
          <a:p>
            <a:r>
              <a:rPr lang="es-MX"/>
              <a:t>La encapsulación oculta los detalles internos del objeto, la herencia permite que una clase derive atributos y métodos de otra, y el polimorfismo permite que un objeto se comporte de diferentes maneras según su contexto. Estos principios son fundamentales para la POO.</a:t>
            </a:r>
          </a:p>
        </p:txBody>
      </p:sp>
      <p:sp>
        <p:nvSpPr>
          <p:cNvPr id="4" name="Marcador de número de diapositiva 3">
            <a:extLst>
              <a:ext uri="{FF2B5EF4-FFF2-40B4-BE49-F238E27FC236}">
                <a16:creationId xmlns:a16="http://schemas.microsoft.com/office/drawing/2014/main" id="{8608F73D-6569-E0C9-06D9-D9177ABCF69A}"/>
              </a:ext>
            </a:extLst>
          </p:cNvPr>
          <p:cNvSpPr>
            <a:spLocks noGrp="1"/>
          </p:cNvSpPr>
          <p:nvPr>
            <p:ph type="sldNum" sz="quarter" idx="5"/>
          </p:nvPr>
        </p:nvSpPr>
        <p:spPr/>
        <p:txBody>
          <a:bodyPr/>
          <a:lstStyle/>
          <a:p>
            <a:fld id="{BACE588D-C919-4E98-B890-E17B0AC4619B}" type="slidenum">
              <a:rPr lang="es-MX" smtClean="0"/>
              <a:t>6</a:t>
            </a:fld>
            <a:endParaRPr lang="es-MX"/>
          </a:p>
        </p:txBody>
      </p:sp>
    </p:spTree>
    <p:extLst>
      <p:ext uri="{BB962C8B-B14F-4D97-AF65-F5344CB8AC3E}">
        <p14:creationId xmlns:p14="http://schemas.microsoft.com/office/powerpoint/2010/main" val="103558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La programación orientada a objetos se utiliza ampliamente en el desarrollo de videojuegos, donde los objetos representan entidades del juego. Esto permite una gestión eficiente de la lógica del juego y la interacción entre personajes y escenarios.</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7</a:t>
            </a:fld>
            <a:endParaRPr lang="es-MX"/>
          </a:p>
        </p:txBody>
      </p:sp>
    </p:spTree>
    <p:extLst>
      <p:ext uri="{BB962C8B-B14F-4D97-AF65-F5344CB8AC3E}">
        <p14:creationId xmlns:p14="http://schemas.microsoft.com/office/powerpoint/2010/main" val="2984736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440D9-8183-363B-C0C7-ADFD2BE5DA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418EAD-0CE6-3997-F5DA-983FABABA283}"/>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FB23761-DF0C-8251-6B0B-1938A80583C4}"/>
              </a:ext>
            </a:extLst>
          </p:cNvPr>
          <p:cNvSpPr>
            <a:spLocks noGrp="1"/>
          </p:cNvSpPr>
          <p:nvPr>
            <p:ph type="body" idx="1"/>
          </p:nvPr>
        </p:nvSpPr>
        <p:spPr/>
        <p:txBody>
          <a:bodyPr/>
          <a:lstStyle/>
          <a:p>
            <a:r>
              <a:rPr lang="es-MX"/>
              <a:t>La programación orientada a objetos se utiliza ampliamente en el desarrollo de videojuegos, donde los objetos representan entidades del juego. Esto permite una gestión eficiente de la lógica del juego y la interacción entre personajes y escenarios.</a:t>
            </a:r>
          </a:p>
        </p:txBody>
      </p:sp>
      <p:sp>
        <p:nvSpPr>
          <p:cNvPr id="4" name="Marcador de número de diapositiva 3">
            <a:extLst>
              <a:ext uri="{FF2B5EF4-FFF2-40B4-BE49-F238E27FC236}">
                <a16:creationId xmlns:a16="http://schemas.microsoft.com/office/drawing/2014/main" id="{AD5DD250-E6DA-A2F7-C28D-74705128F16E}"/>
              </a:ext>
            </a:extLst>
          </p:cNvPr>
          <p:cNvSpPr>
            <a:spLocks noGrp="1"/>
          </p:cNvSpPr>
          <p:nvPr>
            <p:ph type="sldNum" sz="quarter" idx="5"/>
          </p:nvPr>
        </p:nvSpPr>
        <p:spPr/>
        <p:txBody>
          <a:bodyPr/>
          <a:lstStyle/>
          <a:p>
            <a:fld id="{BACE588D-C919-4E98-B890-E17B0AC4619B}" type="slidenum">
              <a:rPr lang="es-MX" smtClean="0"/>
              <a:t>8</a:t>
            </a:fld>
            <a:endParaRPr lang="es-MX"/>
          </a:p>
        </p:txBody>
      </p:sp>
    </p:spTree>
    <p:extLst>
      <p:ext uri="{BB962C8B-B14F-4D97-AF65-F5344CB8AC3E}">
        <p14:creationId xmlns:p14="http://schemas.microsoft.com/office/powerpoint/2010/main" val="4115579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12/17/2025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990866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12/17/2025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36969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12/17/2025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846704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12/17/2025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29085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12/17/2025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2509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12/17/2025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698149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12/17/2025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15629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12/17/2025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82358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12/17/2025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1457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12/17/2025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9022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12/17/2025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61799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12/17/2025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9419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descr="Código de ADN en una gran pantalla LED">
            <a:extLst>
              <a:ext uri="{FF2B5EF4-FFF2-40B4-BE49-F238E27FC236}">
                <a16:creationId xmlns:a16="http://schemas.microsoft.com/office/drawing/2014/main" id="{B962A1D9-6A96-467C-AE97-1736C47E05C9}"/>
              </a:ext>
            </a:extLst>
          </p:cNvPr>
          <p:cNvPicPr>
            <a:picLocks noChangeAspect="1"/>
          </p:cNvPicPr>
          <p:nvPr/>
        </p:nvPicPr>
        <p:blipFill>
          <a:blip r:embed="rId3"/>
          <a:srcRect l="1774" t="2853" r="-1" b="14371"/>
          <a:stretch/>
        </p:blipFill>
        <p:spPr>
          <a:xfrm>
            <a:off x="20" y="10"/>
            <a:ext cx="12191979" cy="6857990"/>
          </a:xfrm>
          <a:prstGeom prst="rect">
            <a:avLst/>
          </a:prstGeom>
        </p:spPr>
      </p:pic>
      <p:sp>
        <p:nvSpPr>
          <p:cNvPr id="13" name="Rectangle 12">
            <a:extLst>
              <a:ext uri="{FF2B5EF4-FFF2-40B4-BE49-F238E27FC236}">
                <a16:creationId xmlns:a16="http://schemas.microsoft.com/office/drawing/2014/main" id="{EFBAAD93-7DE6-47D1-3609-446AE138A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526EC4F8-2691-BAD7-DE77-43579875551D}"/>
              </a:ext>
            </a:extLst>
          </p:cNvPr>
          <p:cNvSpPr>
            <a:spLocks noGrp="1"/>
          </p:cNvSpPr>
          <p:nvPr>
            <p:ph type="ctrTitle"/>
          </p:nvPr>
        </p:nvSpPr>
        <p:spPr>
          <a:xfrm>
            <a:off x="6977743" y="2345565"/>
            <a:ext cx="5214257" cy="4171779"/>
          </a:xfrm>
        </p:spPr>
        <p:txBody>
          <a:bodyPr anchor="t">
            <a:normAutofit/>
          </a:bodyPr>
          <a:lstStyle/>
          <a:p>
            <a:pPr algn="ctr">
              <a:lnSpc>
                <a:spcPct val="90000"/>
              </a:lnSpc>
            </a:pPr>
            <a:r>
              <a:rPr lang="es-MX" sz="4600" b="1" dirty="0">
                <a:latin typeface="Arial" panose="020B0604020202020204" pitchFamily="34" charset="0"/>
                <a:cs typeface="Arial" panose="020B0604020202020204" pitchFamily="34" charset="0"/>
              </a:rPr>
              <a:t>ESTRUCTURA DE DATOS</a:t>
            </a:r>
          </a:p>
        </p:txBody>
      </p:sp>
      <p:cxnSp>
        <p:nvCxnSpPr>
          <p:cNvPr id="15" name="Straight Connector 14">
            <a:extLst>
              <a:ext uri="{FF2B5EF4-FFF2-40B4-BE49-F238E27FC236}">
                <a16:creationId xmlns:a16="http://schemas.microsoft.com/office/drawing/2014/main" id="{90236859-7780-1451-40B8-74A77E271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6232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94506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Marcador de contenido 4" descr="Script de computadora en una pantalla">
            <a:extLst>
              <a:ext uri="{FF2B5EF4-FFF2-40B4-BE49-F238E27FC236}">
                <a16:creationId xmlns:a16="http://schemas.microsoft.com/office/drawing/2014/main" id="{8A84E368-CB7B-420A-B743-3B968FE3422E}"/>
              </a:ext>
            </a:extLst>
          </p:cNvPr>
          <p:cNvPicPr>
            <a:picLocks noGrp="1" noChangeAspect="1"/>
          </p:cNvPicPr>
          <p:nvPr>
            <p:ph sz="half" idx="1"/>
          </p:nvPr>
        </p:nvPicPr>
        <p:blipFill>
          <a:blip r:embed="rId3"/>
          <a:srcRect l="9673" r="50648" b="-1"/>
          <a:stretch/>
        </p:blipFill>
        <p:spPr>
          <a:xfrm>
            <a:off x="8115300" y="10"/>
            <a:ext cx="4076700" cy="6857990"/>
          </a:xfrm>
          <a:prstGeom prst="rect">
            <a:avLst/>
          </a:prstGeom>
        </p:spPr>
      </p:pic>
      <p:pic>
        <p:nvPicPr>
          <p:cNvPr id="3" name="Imagen 2">
            <a:extLst>
              <a:ext uri="{FF2B5EF4-FFF2-40B4-BE49-F238E27FC236}">
                <a16:creationId xmlns:a16="http://schemas.microsoft.com/office/drawing/2014/main" id="{335E0B4F-AF87-EAAD-71A4-E05D552AE7F4}"/>
              </a:ext>
            </a:extLst>
          </p:cNvPr>
          <p:cNvPicPr/>
          <p:nvPr/>
        </p:nvPicPr>
        <p:blipFill rotWithShape="1">
          <a:blip r:embed="rId4" cstate="print">
            <a:extLst>
              <a:ext uri="{28A0092B-C50C-407E-A947-70E740481C1C}">
                <a14:useLocalDpi xmlns:a14="http://schemas.microsoft.com/office/drawing/2010/main" val="0"/>
              </a:ext>
            </a:extLst>
          </a:blip>
          <a:srcRect l="905" t="8280" b="-1"/>
          <a:stretch/>
        </p:blipFill>
        <p:spPr bwMode="auto">
          <a:xfrm>
            <a:off x="551688" y="45403"/>
            <a:ext cx="7351059" cy="633095"/>
          </a:xfrm>
          <a:prstGeom prst="rect">
            <a:avLst/>
          </a:prstGeom>
          <a:ln>
            <a:noFill/>
          </a:ln>
          <a:extLst>
            <a:ext uri="{53640926-AAD7-44D8-BBD7-CCE9431645EC}">
              <a14:shadowObscured xmlns:a14="http://schemas.microsoft.com/office/drawing/2010/main"/>
            </a:ext>
          </a:extLst>
        </p:spPr>
      </p:pic>
      <p:sp>
        <p:nvSpPr>
          <p:cNvPr id="13" name="Subtítulo 2">
            <a:extLst>
              <a:ext uri="{FF2B5EF4-FFF2-40B4-BE49-F238E27FC236}">
                <a16:creationId xmlns:a16="http://schemas.microsoft.com/office/drawing/2014/main" id="{3AAFD76D-3F2C-21A4-B844-F9945197157F}"/>
              </a:ext>
            </a:extLst>
          </p:cNvPr>
          <p:cNvSpPr txBox="1">
            <a:spLocks/>
          </p:cNvSpPr>
          <p:nvPr/>
        </p:nvSpPr>
        <p:spPr>
          <a:xfrm>
            <a:off x="0" y="769303"/>
            <a:ext cx="8115300" cy="5373478"/>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Tecnológico Nacional de México </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Instituto Tecnológico de Frontera Comalapa</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Modalidad Mixta</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Materia: </a:t>
            </a:r>
            <a:r>
              <a:rPr lang="es-ES" sz="6400" dirty="0">
                <a:solidFill>
                  <a:sysClr val="windowText" lastClr="000000"/>
                </a:solidFill>
                <a:latin typeface="Arial" panose="020B0604020202020204" pitchFamily="34" charset="0"/>
                <a:cs typeface="Arial" panose="020B0604020202020204" pitchFamily="34" charset="0"/>
              </a:rPr>
              <a:t>Estructura de Datos</a:t>
            </a: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Semestre: 3er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Especialidad: </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Ingeniería en Sistemas Computacionales.</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Numero de control:</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241260007</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Alumno: </a:t>
            </a:r>
            <a:r>
              <a:rPr lang="es-ES" sz="6400" dirty="0">
                <a:solidFill>
                  <a:sysClr val="windowText" lastClr="000000"/>
                </a:solidFill>
                <a:latin typeface="Arial" panose="020B0604020202020204" pitchFamily="34" charset="0"/>
                <a:cs typeface="Arial" panose="020B0604020202020204" pitchFamily="34" charset="0"/>
              </a:rPr>
              <a:t>Darvin Yeriel Roblero González</a:t>
            </a: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Docente: </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Francisco Javier Velázquez Mingo</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Nombre del trabajo:  6</a:t>
            </a:r>
            <a:r>
              <a:rPr lang="es-ES" sz="6400" b="1" dirty="0">
                <a:solidFill>
                  <a:sysClr val="windowText" lastClr="000000"/>
                </a:solidFill>
                <a:latin typeface="Arial" panose="020B0604020202020204" pitchFamily="34" charset="0"/>
                <a:cs typeface="Arial" panose="020B0604020202020204" pitchFamily="34" charset="0"/>
              </a:rPr>
              <a:t>.2</a:t>
            </a: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Reporte de Practica.</a:t>
            </a: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Frontera Comalapa, Chiapas a 13 de </a:t>
            </a:r>
            <a:r>
              <a:rPr lang="es-ES" sz="6400" dirty="0">
                <a:solidFill>
                  <a:sysClr val="windowText" lastClr="000000"/>
                </a:solidFill>
                <a:latin typeface="Arial" panose="020B0604020202020204" pitchFamily="34" charset="0"/>
                <a:cs typeface="Arial" panose="020B0604020202020204" pitchFamily="34" charset="0"/>
              </a:rPr>
              <a:t>Diciembre</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del 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MX"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380459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D6E722-76B1-F8CF-37BF-5380FB62079C}"/>
              </a:ext>
            </a:extLst>
          </p:cNvPr>
          <p:cNvSpPr>
            <a:spLocks noGrp="1"/>
          </p:cNvSpPr>
          <p:nvPr>
            <p:ph type="ctrTitle"/>
          </p:nvPr>
        </p:nvSpPr>
        <p:spPr>
          <a:xfrm>
            <a:off x="682316" y="0"/>
            <a:ext cx="3799763" cy="1473200"/>
          </a:xfrm>
        </p:spPr>
        <p:txBody>
          <a:bodyPr vert="horz" lIns="91440" tIns="45720" rIns="91440" bIns="45720" rtlCol="0" anchor="t">
            <a:normAutofit/>
          </a:bodyPr>
          <a:lstStyle/>
          <a:p>
            <a:r>
              <a:rPr lang="es-MX" sz="3600" b="1" noProof="0"/>
              <a:t>Introducción</a:t>
            </a:r>
          </a:p>
        </p:txBody>
      </p:sp>
      <p:cxnSp>
        <p:nvCxnSpPr>
          <p:cNvPr id="20" name="Straight Connector 19">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22539D28-7D5D-010F-AC7C-CF344412D36A}"/>
              </a:ext>
            </a:extLst>
          </p:cNvPr>
          <p:cNvSpPr txBox="1"/>
          <p:nvPr/>
        </p:nvSpPr>
        <p:spPr>
          <a:xfrm>
            <a:off x="0" y="702976"/>
            <a:ext cx="7198940" cy="6155024"/>
          </a:xfrm>
          <a:prstGeom prst="rect">
            <a:avLst/>
          </a:prstGeom>
        </p:spPr>
        <p:txBody>
          <a:bodyPr vert="horz" lIns="91440" tIns="45720" rIns="91440" bIns="45720" rtlCol="0">
            <a:noAutofit/>
          </a:bodyPr>
          <a:lstStyle/>
          <a:p>
            <a:pPr algn="just">
              <a:lnSpc>
                <a:spcPct val="150000"/>
              </a:lnSpc>
              <a:spcAft>
                <a:spcPts val="600"/>
              </a:spcAft>
            </a:pPr>
            <a:r>
              <a:rPr lang="es-MX" sz="2000" dirty="0">
                <a:latin typeface="Arial" panose="020B0604020202020204" pitchFamily="34" charset="0"/>
                <a:cs typeface="Arial" panose="020B0604020202020204" pitchFamily="34" charset="0"/>
              </a:rPr>
              <a:t>En este reporte de práctica les mostraremos a detalle de como se realizaron los ejercicios sobre búsqueda donde diseñamos un ejemplo para buscar algo y saber en que posición se encuentra.</a:t>
            </a:r>
            <a:endParaRPr lang="es-MX" sz="2000" noProof="0" dirty="0">
              <a:latin typeface="Arial" panose="020B0604020202020204" pitchFamily="34" charset="0"/>
              <a:cs typeface="Arial" panose="020B0604020202020204" pitchFamily="34" charset="0"/>
            </a:endParaRPr>
          </a:p>
        </p:txBody>
      </p:sp>
      <p:pic>
        <p:nvPicPr>
          <p:cNvPr id="6" name="Marcador de contenido 4" descr="Archivos en fondo digital">
            <a:extLst>
              <a:ext uri="{FF2B5EF4-FFF2-40B4-BE49-F238E27FC236}">
                <a16:creationId xmlns:a16="http://schemas.microsoft.com/office/drawing/2014/main" id="{19F0844D-56B2-50A5-5041-124666DE0DCE}"/>
              </a:ext>
            </a:extLst>
          </p:cNvPr>
          <p:cNvPicPr>
            <a:picLocks noChangeAspect="1"/>
          </p:cNvPicPr>
          <p:nvPr/>
        </p:nvPicPr>
        <p:blipFill>
          <a:blip r:embed="rId3"/>
          <a:srcRect l="10522" r="9482" b="-1"/>
          <a:stretch/>
        </p:blipFill>
        <p:spPr>
          <a:xfrm>
            <a:off x="7435012" y="-1"/>
            <a:ext cx="4776597" cy="6857995"/>
          </a:xfrm>
          <a:prstGeom prst="rect">
            <a:avLst/>
          </a:prstGeom>
        </p:spPr>
      </p:pic>
      <p:sp>
        <p:nvSpPr>
          <p:cNvPr id="3" name="Marcador de contenido 2">
            <a:extLst>
              <a:ext uri="{FF2B5EF4-FFF2-40B4-BE49-F238E27FC236}">
                <a16:creationId xmlns:a16="http://schemas.microsoft.com/office/drawing/2014/main" id="{D0C602A4-BE23-F822-D175-F15C7F42F326}"/>
              </a:ext>
            </a:extLst>
          </p:cNvPr>
          <p:cNvSpPr txBox="1">
            <a:spLocks/>
          </p:cNvSpPr>
          <p:nvPr/>
        </p:nvSpPr>
        <p:spPr>
          <a:xfrm>
            <a:off x="522514" y="421368"/>
            <a:ext cx="10515600" cy="4351338"/>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MX" dirty="0"/>
          </a:p>
        </p:txBody>
      </p:sp>
    </p:spTree>
    <p:extLst>
      <p:ext uri="{BB962C8B-B14F-4D97-AF65-F5344CB8AC3E}">
        <p14:creationId xmlns:p14="http://schemas.microsoft.com/office/powerpoint/2010/main" val="109290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0C061-05DE-866E-1BEB-AECACCD1031A}"/>
            </a:ext>
          </a:extLst>
        </p:cNvPr>
        <p:cNvGrpSpPr/>
        <p:nvPr/>
      </p:nvGrpSpPr>
      <p:grpSpPr>
        <a:xfrm>
          <a:off x="0" y="0"/>
          <a:ext cx="0" cy="0"/>
          <a:chOff x="0" y="0"/>
          <a:chExt cx="0" cy="0"/>
        </a:xfrm>
      </p:grpSpPr>
      <p:pic>
        <p:nvPicPr>
          <p:cNvPr id="1026" name="Picture 2" descr="IntelliJ IDEA Version 2024.1 bringt praktische Neuerungen für JetBrains ...">
            <a:extLst>
              <a:ext uri="{FF2B5EF4-FFF2-40B4-BE49-F238E27FC236}">
                <a16:creationId xmlns:a16="http://schemas.microsoft.com/office/drawing/2014/main" id="{1BCE11B3-42BC-B84B-2A78-32DC41267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6801" y="16658"/>
            <a:ext cx="4185199" cy="682468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0BBEDAC-E348-9749-900E-A758C457223F}"/>
              </a:ext>
            </a:extLst>
          </p:cNvPr>
          <p:cNvSpPr>
            <a:spLocks noGrp="1"/>
          </p:cNvSpPr>
          <p:nvPr>
            <p:ph type="ctrTitle"/>
          </p:nvPr>
        </p:nvSpPr>
        <p:spPr>
          <a:xfrm>
            <a:off x="682316" y="0"/>
            <a:ext cx="3799763" cy="1473200"/>
          </a:xfrm>
        </p:spPr>
        <p:txBody>
          <a:bodyPr vert="horz" lIns="91440" tIns="45720" rIns="91440" bIns="45720" rtlCol="0" anchor="t">
            <a:normAutofit/>
          </a:bodyPr>
          <a:lstStyle/>
          <a:p>
            <a:r>
              <a:rPr lang="es-MX" sz="3600" b="1" dirty="0"/>
              <a:t>Justificación</a:t>
            </a:r>
            <a:endParaRPr lang="es-MX" sz="3600" b="1" noProof="0" dirty="0"/>
          </a:p>
        </p:txBody>
      </p:sp>
      <p:sp>
        <p:nvSpPr>
          <p:cNvPr id="5" name="CuadroTexto 4">
            <a:extLst>
              <a:ext uri="{FF2B5EF4-FFF2-40B4-BE49-F238E27FC236}">
                <a16:creationId xmlns:a16="http://schemas.microsoft.com/office/drawing/2014/main" id="{4C75A43C-848A-5DE3-4CD8-8C292FE06513}"/>
              </a:ext>
            </a:extLst>
          </p:cNvPr>
          <p:cNvSpPr txBox="1"/>
          <p:nvPr/>
        </p:nvSpPr>
        <p:spPr>
          <a:xfrm>
            <a:off x="274305" y="937019"/>
            <a:ext cx="7552524" cy="4613839"/>
          </a:xfrm>
          <a:prstGeom prst="rect">
            <a:avLst/>
          </a:prstGeom>
        </p:spPr>
        <p:txBody>
          <a:bodyPr vert="horz" lIns="91440" tIns="45720" rIns="91440" bIns="45720" rtlCol="0">
            <a:noAutofit/>
          </a:bodyPr>
          <a:lstStyle/>
          <a:p>
            <a:pPr algn="just">
              <a:lnSpc>
                <a:spcPct val="150000"/>
              </a:lnSpc>
              <a:spcAft>
                <a:spcPts val="600"/>
              </a:spcAft>
            </a:pPr>
            <a:r>
              <a:rPr lang="es-MX" sz="2000" dirty="0">
                <a:latin typeface="Arial" panose="020B0604020202020204" pitchFamily="34" charset="0"/>
                <a:cs typeface="Arial" panose="020B0604020202020204" pitchFamily="34" charset="0"/>
              </a:rPr>
              <a:t>Realizamos estas practicas para saber mas sobre como se maneja la búsqueda en un programa ya que muchas veces realizamos búsquedas en paginas web pero desconocemos como le hacen para que nos den los resultados es por ello que se eligió este tema para comprender a fondo el funcionamiento de la búsqueda.</a:t>
            </a:r>
            <a:endParaRPr lang="es-MX" sz="2000" noProof="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39F73123-9891-32C6-959E-88DCD3D6CAD5}"/>
              </a:ext>
            </a:extLst>
          </p:cNvPr>
          <p:cNvSpPr txBox="1">
            <a:spLocks/>
          </p:cNvSpPr>
          <p:nvPr/>
        </p:nvSpPr>
        <p:spPr>
          <a:xfrm>
            <a:off x="522514" y="421368"/>
            <a:ext cx="10515600" cy="4351338"/>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MX" dirty="0"/>
          </a:p>
        </p:txBody>
      </p:sp>
    </p:spTree>
    <p:extLst>
      <p:ext uri="{BB962C8B-B14F-4D97-AF65-F5344CB8AC3E}">
        <p14:creationId xmlns:p14="http://schemas.microsoft.com/office/powerpoint/2010/main" val="5473939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ítulo 1">
            <a:extLst>
              <a:ext uri="{FF2B5EF4-FFF2-40B4-BE49-F238E27FC236}">
                <a16:creationId xmlns:a16="http://schemas.microsoft.com/office/drawing/2014/main" id="{6C34C578-81DE-2799-917F-302099732492}"/>
              </a:ext>
            </a:extLst>
          </p:cNvPr>
          <p:cNvSpPr txBox="1">
            <a:spLocks/>
          </p:cNvSpPr>
          <p:nvPr/>
        </p:nvSpPr>
        <p:spPr>
          <a:xfrm>
            <a:off x="909860" y="248726"/>
            <a:ext cx="6764568" cy="399956"/>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s-MX" sz="3600" b="1" dirty="0"/>
              <a:t>Búsqueda</a:t>
            </a:r>
          </a:p>
        </p:txBody>
      </p:sp>
      <p:sp>
        <p:nvSpPr>
          <p:cNvPr id="7" name="CuadroTexto 6">
            <a:extLst>
              <a:ext uri="{FF2B5EF4-FFF2-40B4-BE49-F238E27FC236}">
                <a16:creationId xmlns:a16="http://schemas.microsoft.com/office/drawing/2014/main" id="{B7CCCC95-9BBD-AF1F-20E2-9B155439DD5F}"/>
              </a:ext>
            </a:extLst>
          </p:cNvPr>
          <p:cNvSpPr txBox="1"/>
          <p:nvPr/>
        </p:nvSpPr>
        <p:spPr>
          <a:xfrm>
            <a:off x="0" y="4672625"/>
            <a:ext cx="11843657" cy="1626301"/>
          </a:xfrm>
          <a:prstGeom prst="rect">
            <a:avLst/>
          </a:prstGeom>
        </p:spPr>
        <p:txBody>
          <a:bodyPr vert="horz" lIns="91440" tIns="45720" rIns="91440" bIns="45720" rtlCol="0">
            <a:noAutofit/>
          </a:bodyPr>
          <a:lstStyle/>
          <a:p>
            <a:pPr algn="just">
              <a:lnSpc>
                <a:spcPct val="150000"/>
              </a:lnSpc>
              <a:spcAft>
                <a:spcPts val="600"/>
              </a:spcAft>
            </a:pPr>
            <a:r>
              <a:rPr lang="es-MX" sz="2000" b="1" dirty="0">
                <a:latin typeface="Arial" panose="020B0604020202020204" pitchFamily="34" charset="0"/>
                <a:cs typeface="Arial" panose="020B0604020202020204" pitchFamily="34" charset="0"/>
              </a:rPr>
              <a:t>Para poder realizar los códigos utilizamos la aplicación de </a:t>
            </a:r>
            <a:r>
              <a:rPr lang="es-MX" sz="2000" dirty="0"/>
              <a:t>IntelliJ IDEA y SceneBuilder, en donde creamos las clases correspondientes y  </a:t>
            </a:r>
            <a:r>
              <a:rPr lang="es-MX" sz="2000" b="1" dirty="0">
                <a:latin typeface="Arial" panose="020B0604020202020204" pitchFamily="34" charset="0"/>
                <a:cs typeface="Arial" panose="020B0604020202020204" pitchFamily="34" charset="0"/>
              </a:rPr>
              <a:t>creamos la interfaz que nos mostrara en pantalla una vez que terminemos de ingresar los códigos adecuadamente.</a:t>
            </a:r>
          </a:p>
        </p:txBody>
      </p:sp>
      <p:pic>
        <p:nvPicPr>
          <p:cNvPr id="4" name="Imagen 3">
            <a:extLst>
              <a:ext uri="{FF2B5EF4-FFF2-40B4-BE49-F238E27FC236}">
                <a16:creationId xmlns:a16="http://schemas.microsoft.com/office/drawing/2014/main" id="{4DEB47A8-1FD6-55B1-A2FF-565CF7CE981A}"/>
              </a:ext>
            </a:extLst>
          </p:cNvPr>
          <p:cNvPicPr>
            <a:picLocks noChangeAspect="1"/>
          </p:cNvPicPr>
          <p:nvPr/>
        </p:nvPicPr>
        <p:blipFill>
          <a:blip r:embed="rId3"/>
          <a:stretch>
            <a:fillRect/>
          </a:stretch>
        </p:blipFill>
        <p:spPr>
          <a:xfrm>
            <a:off x="0" y="1013352"/>
            <a:ext cx="5692305" cy="3584054"/>
          </a:xfrm>
          <a:prstGeom prst="rect">
            <a:avLst/>
          </a:prstGeom>
        </p:spPr>
      </p:pic>
      <p:pic>
        <p:nvPicPr>
          <p:cNvPr id="8" name="Imagen 7">
            <a:extLst>
              <a:ext uri="{FF2B5EF4-FFF2-40B4-BE49-F238E27FC236}">
                <a16:creationId xmlns:a16="http://schemas.microsoft.com/office/drawing/2014/main" id="{41192546-931D-4A6C-3F09-A1FA0239040A}"/>
              </a:ext>
            </a:extLst>
          </p:cNvPr>
          <p:cNvPicPr>
            <a:picLocks noChangeAspect="1"/>
          </p:cNvPicPr>
          <p:nvPr/>
        </p:nvPicPr>
        <p:blipFill>
          <a:blip r:embed="rId4"/>
          <a:srcRect l="31250" t="13606" r="14554" b="7668"/>
          <a:stretch>
            <a:fillRect/>
          </a:stretch>
        </p:blipFill>
        <p:spPr>
          <a:xfrm>
            <a:off x="6096000" y="1013352"/>
            <a:ext cx="5018314" cy="3612465"/>
          </a:xfrm>
          <a:prstGeom prst="rect">
            <a:avLst/>
          </a:prstGeom>
        </p:spPr>
      </p:pic>
    </p:spTree>
    <p:extLst>
      <p:ext uri="{BB962C8B-B14F-4D97-AF65-F5344CB8AC3E}">
        <p14:creationId xmlns:p14="http://schemas.microsoft.com/office/powerpoint/2010/main" val="1445275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D07C36-9050-B35C-304D-80CDE45E913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9436FD-F135-257C-8DD1-741541C2E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1ECE1525-5D48-A080-E175-9BBD086A3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913DD95-8BEE-2379-51EF-B81A400200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ítulo 1">
            <a:extLst>
              <a:ext uri="{FF2B5EF4-FFF2-40B4-BE49-F238E27FC236}">
                <a16:creationId xmlns:a16="http://schemas.microsoft.com/office/drawing/2014/main" id="{D39C73DF-058B-2D56-A9F0-F4D58C5F9008}"/>
              </a:ext>
            </a:extLst>
          </p:cNvPr>
          <p:cNvSpPr txBox="1">
            <a:spLocks/>
          </p:cNvSpPr>
          <p:nvPr/>
        </p:nvSpPr>
        <p:spPr>
          <a:xfrm>
            <a:off x="909860" y="248726"/>
            <a:ext cx="6764568" cy="399956"/>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s-MX" sz="3600" b="1" dirty="0"/>
              <a:t>Búsqueda</a:t>
            </a:r>
          </a:p>
        </p:txBody>
      </p:sp>
      <p:sp>
        <p:nvSpPr>
          <p:cNvPr id="7" name="CuadroTexto 6">
            <a:extLst>
              <a:ext uri="{FF2B5EF4-FFF2-40B4-BE49-F238E27FC236}">
                <a16:creationId xmlns:a16="http://schemas.microsoft.com/office/drawing/2014/main" id="{A78D5EDD-FAF5-93A0-A2B6-1C6B371F434B}"/>
              </a:ext>
            </a:extLst>
          </p:cNvPr>
          <p:cNvSpPr txBox="1"/>
          <p:nvPr/>
        </p:nvSpPr>
        <p:spPr>
          <a:xfrm>
            <a:off x="0" y="4672625"/>
            <a:ext cx="11843657" cy="1626301"/>
          </a:xfrm>
          <a:prstGeom prst="rect">
            <a:avLst/>
          </a:prstGeom>
        </p:spPr>
        <p:txBody>
          <a:bodyPr vert="horz" lIns="91440" tIns="45720" rIns="91440" bIns="45720" rtlCol="0">
            <a:noAutofit/>
          </a:bodyPr>
          <a:lstStyle/>
          <a:p>
            <a:pPr algn="just">
              <a:lnSpc>
                <a:spcPct val="150000"/>
              </a:lnSpc>
              <a:spcAft>
                <a:spcPts val="600"/>
              </a:spcAft>
            </a:pPr>
            <a:r>
              <a:rPr lang="es-MX" sz="2000" b="1" dirty="0">
                <a:latin typeface="Arial" panose="020B0604020202020204" pitchFamily="34" charset="0"/>
                <a:cs typeface="Arial" panose="020B0604020202020204" pitchFamily="34" charset="0"/>
              </a:rPr>
              <a:t>Una vez terminado la interfaz procedemos a ingresar datos y posteriormente buscamos en que posición se encuentra</a:t>
            </a:r>
          </a:p>
        </p:txBody>
      </p:sp>
      <p:pic>
        <p:nvPicPr>
          <p:cNvPr id="5" name="Imagen 4">
            <a:extLst>
              <a:ext uri="{FF2B5EF4-FFF2-40B4-BE49-F238E27FC236}">
                <a16:creationId xmlns:a16="http://schemas.microsoft.com/office/drawing/2014/main" id="{CF860841-0D2C-BB9B-34F3-84BEC72F93E8}"/>
              </a:ext>
            </a:extLst>
          </p:cNvPr>
          <p:cNvPicPr>
            <a:picLocks noChangeAspect="1"/>
          </p:cNvPicPr>
          <p:nvPr/>
        </p:nvPicPr>
        <p:blipFill>
          <a:blip r:embed="rId3"/>
          <a:stretch>
            <a:fillRect/>
          </a:stretch>
        </p:blipFill>
        <p:spPr>
          <a:xfrm>
            <a:off x="161941" y="1016167"/>
            <a:ext cx="4977582" cy="3213754"/>
          </a:xfrm>
          <a:prstGeom prst="rect">
            <a:avLst/>
          </a:prstGeom>
        </p:spPr>
      </p:pic>
      <p:pic>
        <p:nvPicPr>
          <p:cNvPr id="10" name="Imagen 9">
            <a:extLst>
              <a:ext uri="{FF2B5EF4-FFF2-40B4-BE49-F238E27FC236}">
                <a16:creationId xmlns:a16="http://schemas.microsoft.com/office/drawing/2014/main" id="{13F218FD-8A7D-336E-9475-39439AA6A50E}"/>
              </a:ext>
            </a:extLst>
          </p:cNvPr>
          <p:cNvPicPr>
            <a:picLocks noChangeAspect="1"/>
          </p:cNvPicPr>
          <p:nvPr/>
        </p:nvPicPr>
        <p:blipFill>
          <a:blip r:embed="rId4"/>
          <a:stretch>
            <a:fillRect/>
          </a:stretch>
        </p:blipFill>
        <p:spPr>
          <a:xfrm>
            <a:off x="5889171" y="903434"/>
            <a:ext cx="5359750" cy="3783353"/>
          </a:xfrm>
          <a:prstGeom prst="rect">
            <a:avLst/>
          </a:prstGeom>
        </p:spPr>
      </p:pic>
    </p:spTree>
    <p:extLst>
      <p:ext uri="{BB962C8B-B14F-4D97-AF65-F5344CB8AC3E}">
        <p14:creationId xmlns:p14="http://schemas.microsoft.com/office/powerpoint/2010/main" val="31103026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5466469-BFDD-CD8A-40BE-97E7C8E33C11}"/>
              </a:ext>
            </a:extLst>
          </p:cNvPr>
          <p:cNvSpPr>
            <a:spLocks noGrp="1"/>
          </p:cNvSpPr>
          <p:nvPr>
            <p:ph type="title"/>
          </p:nvPr>
        </p:nvSpPr>
        <p:spPr>
          <a:xfrm>
            <a:off x="6239673" y="120858"/>
            <a:ext cx="3118794" cy="592373"/>
          </a:xfrm>
        </p:spPr>
        <p:txBody>
          <a:bodyPr vert="horz" lIns="91440" tIns="45720" rIns="91440" bIns="45720" rtlCol="0" anchor="t">
            <a:normAutofit fontScale="90000"/>
          </a:bodyPr>
          <a:lstStyle/>
          <a:p>
            <a:pPr>
              <a:lnSpc>
                <a:spcPct val="90000"/>
              </a:lnSpc>
            </a:pPr>
            <a:r>
              <a:rPr lang="es-MX" noProof="0"/>
              <a:t>CONCLUSIÒN</a:t>
            </a:r>
          </a:p>
        </p:txBody>
      </p:sp>
      <p:pic>
        <p:nvPicPr>
          <p:cNvPr id="5" name="Marcador de contenido 4" descr="Hombre de negocios caminando en pantalla de realidad virtual">
            <a:extLst>
              <a:ext uri="{FF2B5EF4-FFF2-40B4-BE49-F238E27FC236}">
                <a16:creationId xmlns:a16="http://schemas.microsoft.com/office/drawing/2014/main" id="{1FDE7A20-B612-4CA9-9F15-33AF2DD6FE82}"/>
              </a:ext>
            </a:extLst>
          </p:cNvPr>
          <p:cNvPicPr>
            <a:picLocks noGrp="1" noChangeAspect="1"/>
          </p:cNvPicPr>
          <p:nvPr>
            <p:ph sz="half" idx="1"/>
          </p:nvPr>
        </p:nvPicPr>
        <p:blipFill>
          <a:blip r:embed="rId3"/>
          <a:srcRect l="39887" r="25704" b="1"/>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E36F845-7BF8-082C-5B3B-47710A3998F6}"/>
              </a:ext>
            </a:extLst>
          </p:cNvPr>
          <p:cNvSpPr txBox="1"/>
          <p:nvPr/>
        </p:nvSpPr>
        <p:spPr>
          <a:xfrm>
            <a:off x="4599650" y="834089"/>
            <a:ext cx="7198940" cy="5185711"/>
          </a:xfrm>
          <a:prstGeom prst="rect">
            <a:avLst/>
          </a:prstGeom>
        </p:spPr>
        <p:txBody>
          <a:bodyPr vert="horz" lIns="91440" tIns="45720" rIns="91440" bIns="45720" rtlCol="0">
            <a:noAutofit/>
          </a:bodyPr>
          <a:lstStyle/>
          <a:p>
            <a:pPr algn="just">
              <a:lnSpc>
                <a:spcPct val="150000"/>
              </a:lnSpc>
              <a:spcAft>
                <a:spcPts val="600"/>
              </a:spcAft>
            </a:pPr>
            <a:r>
              <a:rPr lang="es-MX" sz="2000" noProof="0" dirty="0">
                <a:latin typeface="Arial" panose="020B0604020202020204" pitchFamily="34" charset="0"/>
                <a:cs typeface="Arial" panose="020B0604020202020204" pitchFamily="34" charset="0"/>
              </a:rPr>
              <a:t>Para </a:t>
            </a:r>
            <a:r>
              <a:rPr lang="es-MX" sz="2000" dirty="0">
                <a:latin typeface="Arial" panose="020B0604020202020204" pitchFamily="34" charset="0"/>
                <a:cs typeface="Arial" panose="020B0604020202020204" pitchFamily="34" charset="0"/>
              </a:rPr>
              <a:t>culminar con este reporte se comprendió como funciona realmente las búsquedas ya sea en una aplicación o en una pagina web y en estos ejemplos analizamos como funciona y como podemos poder realizarlo para mejorar los procesos de búsqueda.</a:t>
            </a:r>
            <a:endParaRPr lang="es-MX" sz="2000" noProof="0" dirty="0">
              <a:latin typeface="Arial" panose="020B0604020202020204" pitchFamily="34" charset="0"/>
              <a:cs typeface="Arial" panose="020B0604020202020204" pitchFamily="34" charset="0"/>
            </a:endParaRPr>
          </a:p>
        </p:txBody>
      </p:sp>
      <p:sp>
        <p:nvSpPr>
          <p:cNvPr id="9" name="Título 1">
            <a:extLst>
              <a:ext uri="{FF2B5EF4-FFF2-40B4-BE49-F238E27FC236}">
                <a16:creationId xmlns:a16="http://schemas.microsoft.com/office/drawing/2014/main" id="{BEDF8800-453A-2BB8-AC85-84920BDA0B41}"/>
              </a:ext>
            </a:extLst>
          </p:cNvPr>
          <p:cNvSpPr txBox="1">
            <a:spLocks/>
          </p:cNvSpPr>
          <p:nvPr/>
        </p:nvSpPr>
        <p:spPr>
          <a:xfrm>
            <a:off x="4556373" y="5785104"/>
            <a:ext cx="7198939" cy="59237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pPr>
              <a:lnSpc>
                <a:spcPct val="90000"/>
              </a:lnSpc>
            </a:pPr>
            <a:r>
              <a:rPr lang="es-MX" sz="2200" b="1" noProof="0" dirty="0"/>
              <a:t>“La mejor forma de predecir el futuro es crearlo</a:t>
            </a:r>
            <a:r>
              <a:rPr lang="es-MX" sz="2200" noProof="0" dirty="0"/>
              <a:t>”</a:t>
            </a:r>
          </a:p>
        </p:txBody>
      </p:sp>
    </p:spTree>
    <p:extLst>
      <p:ext uri="{BB962C8B-B14F-4D97-AF65-F5344CB8AC3E}">
        <p14:creationId xmlns:p14="http://schemas.microsoft.com/office/powerpoint/2010/main" val="246986348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50F074-FAAB-CC8F-96AB-0F2BB9869B6D}"/>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E171BF4-5C4D-DF14-0CAC-EDD02230CE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755A6B7-2C66-F86C-3626-C07755E285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2770D-7E3D-1818-ED71-4A7A365E97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9985DA-A06A-72E4-4C41-B189F2CAFC69}"/>
              </a:ext>
            </a:extLst>
          </p:cNvPr>
          <p:cNvSpPr>
            <a:spLocks noGrp="1"/>
          </p:cNvSpPr>
          <p:nvPr>
            <p:ph type="title"/>
          </p:nvPr>
        </p:nvSpPr>
        <p:spPr>
          <a:xfrm>
            <a:off x="5279572" y="120858"/>
            <a:ext cx="5987142" cy="592373"/>
          </a:xfrm>
        </p:spPr>
        <p:txBody>
          <a:bodyPr vert="horz" lIns="91440" tIns="45720" rIns="91440" bIns="45720" rtlCol="0" anchor="t">
            <a:normAutofit fontScale="90000"/>
          </a:bodyPr>
          <a:lstStyle/>
          <a:p>
            <a:pPr>
              <a:lnSpc>
                <a:spcPct val="90000"/>
              </a:lnSpc>
            </a:pPr>
            <a:r>
              <a:rPr lang="es-MX" dirty="0"/>
              <a:t>Fuentes de información</a:t>
            </a:r>
            <a:endParaRPr lang="es-MX" noProof="0" dirty="0"/>
          </a:p>
        </p:txBody>
      </p:sp>
      <p:pic>
        <p:nvPicPr>
          <p:cNvPr id="5" name="Marcador de contenido 4" descr="Hombre de negocios caminando en pantalla de realidad virtual">
            <a:extLst>
              <a:ext uri="{FF2B5EF4-FFF2-40B4-BE49-F238E27FC236}">
                <a16:creationId xmlns:a16="http://schemas.microsoft.com/office/drawing/2014/main" id="{C7300A26-D716-EAB0-A60F-11F63A37F401}"/>
              </a:ext>
            </a:extLst>
          </p:cNvPr>
          <p:cNvPicPr>
            <a:picLocks noGrp="1" noChangeAspect="1"/>
          </p:cNvPicPr>
          <p:nvPr>
            <p:ph sz="half" idx="1"/>
          </p:nvPr>
        </p:nvPicPr>
        <p:blipFill>
          <a:blip r:embed="rId3"/>
          <a:srcRect l="39887" r="25704" b="1"/>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32990E66-8EBF-F05A-FFE2-6C84F65EC4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BAAA633-5C61-BAED-FC8D-5EF008317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32266D0-ECAD-CF2B-F148-27B353432FA6}"/>
              </a:ext>
            </a:extLst>
          </p:cNvPr>
          <p:cNvSpPr txBox="1"/>
          <p:nvPr/>
        </p:nvSpPr>
        <p:spPr>
          <a:xfrm>
            <a:off x="4599650" y="834089"/>
            <a:ext cx="7198940" cy="2594909"/>
          </a:xfrm>
          <a:prstGeom prst="rect">
            <a:avLst/>
          </a:prstGeom>
        </p:spPr>
        <p:txBody>
          <a:bodyPr vert="horz" lIns="91440" tIns="45720" rIns="91440" bIns="45720" rtlCol="0">
            <a:noAutofit/>
          </a:bodyPr>
          <a:lstStyle/>
          <a:p>
            <a:pPr algn="just">
              <a:lnSpc>
                <a:spcPct val="150000"/>
              </a:lnSpc>
              <a:spcAft>
                <a:spcPts val="600"/>
              </a:spcAft>
            </a:pPr>
            <a:r>
              <a:rPr lang="es-MX" sz="2000" noProof="0" dirty="0">
                <a:latin typeface="Arial" panose="020B0604020202020204" pitchFamily="34" charset="0"/>
                <a:cs typeface="Arial" panose="020B0604020202020204" pitchFamily="34" charset="0"/>
              </a:rPr>
              <a:t>Todos los ejercicios fueron realizados en </a:t>
            </a:r>
            <a:r>
              <a:rPr lang="es-MX" dirty="0"/>
              <a:t>IntelliJ IDEA y en el SceneBuilder ya que son dos herramientas fundamentales para realizar programas eficientes y entendibles. Así mismo las actividades se subieron a la app de GitHub que es una app muy esencial para poder subir actividades en la nube y que otros puedan ingresar con un link a dicho programa y visualizar las actividades.</a:t>
            </a:r>
          </a:p>
          <a:p>
            <a:pPr algn="just">
              <a:lnSpc>
                <a:spcPct val="150000"/>
              </a:lnSpc>
              <a:spcAft>
                <a:spcPts val="600"/>
              </a:spcAft>
            </a:pPr>
            <a:endParaRPr lang="es-MX" sz="2000" b="1" noProof="0" dirty="0">
              <a:latin typeface="Arial" panose="020B0604020202020204" pitchFamily="34" charset="0"/>
              <a:cs typeface="Arial" panose="020B0604020202020204" pitchFamily="34" charset="0"/>
            </a:endParaRPr>
          </a:p>
          <a:p>
            <a:pPr algn="just">
              <a:lnSpc>
                <a:spcPct val="150000"/>
              </a:lnSpc>
              <a:spcAft>
                <a:spcPts val="600"/>
              </a:spcAft>
            </a:pPr>
            <a:endParaRPr lang="es-MX" sz="2000" b="1" noProof="0" dirty="0">
              <a:latin typeface="Arial" panose="020B0604020202020204" pitchFamily="34" charset="0"/>
              <a:cs typeface="Arial" panose="020B0604020202020204" pitchFamily="34" charset="0"/>
            </a:endParaRPr>
          </a:p>
        </p:txBody>
      </p:sp>
      <p:pic>
        <p:nvPicPr>
          <p:cNvPr id="1026" name="Picture 2" descr="IntelliJ IDEA Logo / Software / Logonoid.com">
            <a:extLst>
              <a:ext uri="{FF2B5EF4-FFF2-40B4-BE49-F238E27FC236}">
                <a16:creationId xmlns:a16="http://schemas.microsoft.com/office/drawing/2014/main" id="{F0EE6089-DD3A-57B3-68D3-79531A9377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9269" y="3537856"/>
            <a:ext cx="1929615" cy="192961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A175BF2F-734B-F7AC-9469-06B96C9190F9}"/>
              </a:ext>
            </a:extLst>
          </p:cNvPr>
          <p:cNvPicPr>
            <a:picLocks noChangeAspect="1"/>
          </p:cNvPicPr>
          <p:nvPr/>
        </p:nvPicPr>
        <p:blipFill>
          <a:blip r:embed="rId5"/>
          <a:stretch>
            <a:fillRect/>
          </a:stretch>
        </p:blipFill>
        <p:spPr>
          <a:xfrm>
            <a:off x="7083048" y="3577206"/>
            <a:ext cx="1784705" cy="1784705"/>
          </a:xfrm>
          <a:prstGeom prst="rect">
            <a:avLst/>
          </a:prstGeom>
        </p:spPr>
      </p:pic>
      <p:pic>
        <p:nvPicPr>
          <p:cNvPr id="3" name="Picture 2" descr="Qué es Github y sus características principales - Qindel: Consultoría IT">
            <a:extLst>
              <a:ext uri="{FF2B5EF4-FFF2-40B4-BE49-F238E27FC236}">
                <a16:creationId xmlns:a16="http://schemas.microsoft.com/office/drawing/2014/main" id="{D1ABC400-510E-B041-12C6-A98A0FFC8C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83990" y="3702563"/>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748083"/>
      </p:ext>
    </p:extLst>
  </p:cSld>
  <p:clrMapOvr>
    <a:masterClrMapping/>
  </p:clrMapOvr>
  <p:transition>
    <p:fade/>
  </p:transition>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379</TotalTime>
  <Words>705</Words>
  <Application>Microsoft Office PowerPoint</Application>
  <PresentationFormat>Panorámica</PresentationFormat>
  <Paragraphs>48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Aptos</vt:lpstr>
      <vt:lpstr>Arial</vt:lpstr>
      <vt:lpstr>Calibri</vt:lpstr>
      <vt:lpstr>Calisto MT</vt:lpstr>
      <vt:lpstr>Neue Haas Grotesk Text Pro</vt:lpstr>
      <vt:lpstr>Univers Condensed</vt:lpstr>
      <vt:lpstr>ChronicleVTI</vt:lpstr>
      <vt:lpstr>ESTRUCTURA DE DATOS</vt:lpstr>
      <vt:lpstr>Presentación de PowerPoint</vt:lpstr>
      <vt:lpstr>Introducción</vt:lpstr>
      <vt:lpstr>Justificación</vt:lpstr>
      <vt:lpstr>Presentación de PowerPoint</vt:lpstr>
      <vt:lpstr>Presentación de PowerPoint</vt:lpstr>
      <vt:lpstr>CONCLUSIÒN</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DARVIN ROBLERO GONZALEZ</dc:creator>
  <cp:lastModifiedBy>DARVIN ROBLERO GONZALEZ</cp:lastModifiedBy>
  <cp:revision>11</cp:revision>
  <dcterms:created xsi:type="dcterms:W3CDTF">2025-05-05T03:25:16Z</dcterms:created>
  <dcterms:modified xsi:type="dcterms:W3CDTF">2025-12-18T02:00:10Z</dcterms:modified>
</cp:coreProperties>
</file>